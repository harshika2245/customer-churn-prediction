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1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ck" id="{5d5b669e-347d-e8c3-3f33-91c404a2a706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+mn-lt"/>
              </a:rPr>
              <a:t>Test-set performance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Random Forest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Accuracy</c:v>
                  </c:pt>
                  <c:pt idx="1">
                    <c:v>Precision</c:v>
                  </c:pt>
                  <c:pt idx="2">
                    <c:v>Recall</c:v>
                  </c:pt>
                  <c:pt idx="3">
                    <c:v>F1</c:v>
                  </c:pt>
                  <c:pt idx="4">
                    <c:v>ROC-AUC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78.68</c:v>
                </c:pt>
                <c:pt idx="1">
                  <c:v>62.42</c:v>
                </c:pt>
                <c:pt idx="2">
                  <c:v>49.73</c:v>
                </c:pt>
                <c:pt idx="3">
                  <c:v>55.36</c:v>
                </c:pt>
                <c:pt idx="4">
                  <c:v>81.17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XGBoost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Accuracy</c:v>
                  </c:pt>
                  <c:pt idx="1">
                    <c:v>Precision</c:v>
                  </c:pt>
                  <c:pt idx="2">
                    <c:v>Recall</c:v>
                  </c:pt>
                  <c:pt idx="3">
                    <c:v>F1</c:v>
                  </c:pt>
                  <c:pt idx="4">
                    <c:v>ROC-AUC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79.32</c:v>
                </c:pt>
                <c:pt idx="1">
                  <c:v>62.93</c:v>
                </c:pt>
                <c:pt idx="2">
                  <c:v>54.01</c:v>
                </c:pt>
                <c:pt idx="3">
                  <c:v>58.13</c:v>
                </c:pt>
                <c:pt idx="4">
                  <c:v>83.57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team, guide and project title.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Training happens offline in the notebook; the saved .pkl files are loaded by FastAPI at startup.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Screenshots are from the ChurnX frontend (HTML pages).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B15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1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KONERU LAKSHMAIAH EDUCATION FOUNDATION (KL DEEMED TO BE UNIVERSITY)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Customer Churn Prediction Using Random Forest and XGBoost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317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Machine Learning Course Project  |  B.Tech  |  A.Y. 2026-27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109728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10896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Submitted by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Ch. Madhulika  -  2520090056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M. Harshika  -  2520090047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310896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Under the guidance of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Dr. Y. Lakshmi Prasanna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Assistant Professor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Dept. of Computer Science and Information Technology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Introduction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51760" cy="3291840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64008" cy="32918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80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Background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45920"/>
            <a:ext cx="23774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Customer churn = a customer stops using a company's product or service</a:t>
            </a:r>
            <a:endParaRPr lang="en-US" sz="15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Common in telecom, banking, insurance, subscription services</a:t>
            </a:r>
            <a:endParaRPr lang="en-US" sz="15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High churn reduces revenue and growth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46120" y="1188720"/>
            <a:ext cx="2651760" cy="3291840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46120" y="1188720"/>
            <a:ext cx="64008" cy="32918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29000" y="1280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Domain Overview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1645920"/>
            <a:ext cx="23774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Companies collect large amounts of customer data: tenure, contract, charges, payment, services</a:t>
            </a:r>
            <a:endParaRPr lang="en-US" sz="15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Machine Learning learns churn patterns from this historical data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035040" y="1188720"/>
            <a:ext cx="2651760" cy="3291840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1188720"/>
            <a:ext cx="64008" cy="329184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0" y="1280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Why It Is Needed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1645920"/>
            <a:ext cx="23774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Knowing who already left does not prevent loss</a:t>
            </a:r>
            <a:endParaRPr lang="en-US" sz="15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Early identification of at-risk customers enables timely retention action</a:t>
            </a:r>
            <a:endParaRPr lang="en-US" sz="15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Manual analysis cannot reveal hidden patterns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Problem Statement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51760" cy="3291840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64008" cy="329184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80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Existing Problem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45920"/>
            <a:ext cx="23774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Businesses struggle to identify customers likely to leave</a:t>
            </a:r>
            <a:endParaRPr lang="en-US" sz="15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Customer data is large, complex, with many interacting attributes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46120" y="1188720"/>
            <a:ext cx="2651760" cy="3291840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46120" y="1188720"/>
            <a:ext cx="64008" cy="32918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29000" y="1280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Challenges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1645920"/>
            <a:ext cx="23774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Manual analysis is slow and misses non-linear patterns</a:t>
            </a:r>
            <a:endParaRPr lang="en-US" sz="15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Churn is imbalanced: only 26.6% of customers churn</a:t>
            </a:r>
            <a:endParaRPr lang="en-US" sz="15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Insights rarely reach non-technical users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035040" y="1188720"/>
            <a:ext cx="2651760" cy="3291840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1188720"/>
            <a:ext cx="64008" cy="32918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0" y="1280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Who Is Affected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1645920"/>
            <a:ext cx="23774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Service providers losing revenue</a:t>
            </a:r>
            <a:endParaRPr lang="en-US" sz="15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Retention and marketing teams</a:t>
            </a:r>
            <a:endParaRPr lang="en-US" sz="15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Customers who get generic, untargeted offers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Motivation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51760" cy="3291840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64008" cy="32918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80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Why This Project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45920"/>
            <a:ext cx="23774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Understand which factors drive churn</a:t>
            </a:r>
            <a:endParaRPr lang="en-US" sz="15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Compare two leading ensemble algorithms</a:t>
            </a:r>
            <a:endParaRPr lang="en-US" sz="15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Practice the full ML cycle: EDA, modelling, evaluation, deployment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46120" y="1188720"/>
            <a:ext cx="2651760" cy="3291840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46120" y="1188720"/>
            <a:ext cx="64008" cy="32918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29000" y="1280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Real-World Need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1645920"/>
            <a:ext cx="23774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Retaining a customer is cheaper than acquiring a new one</a:t>
            </a:r>
            <a:endParaRPr lang="en-US" sz="15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Retention teams need a ranked list of at-risk customers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035040" y="1188720"/>
            <a:ext cx="2651760" cy="3291840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1188720"/>
            <a:ext cx="64008" cy="329184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0" y="1280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Industry Motivation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1645920"/>
            <a:ext cx="23774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Telecom and subscription firms use predictive churn models</a:t>
            </a:r>
            <a:endParaRPr lang="en-US" sz="15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Gradient boosting and Random Forest are strong baselines for tabular business data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Objectives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8229600" cy="731520"/>
          </a:xfrm>
          <a:prstGeom prst="rect">
            <a:avLst/>
          </a:prstGeom>
          <a:solidFill>
            <a:srgbClr val="0B1530"/>
          </a:solidFill>
          <a:ln w="12700">
            <a:solidFill>
              <a:srgbClr val="0B153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430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Main objective: predict customer churn using Random Forest and XGBoost and present the results through a web application.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411480" cy="384048"/>
          </a:xfrm>
          <a:prstGeom prst="roundRect">
            <a:avLst>
              <a:gd name="adj" fmla="val 1904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2103120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103120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Clean and preprocess the customer dataset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578608"/>
            <a:ext cx="411480" cy="384048"/>
          </a:xfrm>
          <a:prstGeom prst="roundRect">
            <a:avLst>
              <a:gd name="adj" fmla="val 1904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" y="2578608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2578608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Perform EDA to find churn patterns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3054096"/>
            <a:ext cx="411480" cy="384048"/>
          </a:xfrm>
          <a:prstGeom prst="roundRect">
            <a:avLst>
              <a:gd name="adj" fmla="val 1904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2920" y="3054096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3054096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Train and evaluate Random Forest and XGBoost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3529584"/>
            <a:ext cx="411480" cy="384048"/>
          </a:xfrm>
          <a:prstGeom prst="roundRect">
            <a:avLst>
              <a:gd name="adj" fmla="val 1904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2920" y="3529584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3529584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Compare models with accuracy, precision, recall, F1 and ROC-AUC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7200" y="4005072"/>
            <a:ext cx="411480" cy="384048"/>
          </a:xfrm>
          <a:prstGeom prst="roundRect">
            <a:avLst>
              <a:gd name="adj" fmla="val 1904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02920" y="4005072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" y="4005072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Build a web app (FastAPI + HTML) for live prediction and insights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Existing System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51760" cy="3291840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64008" cy="329184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80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Current Approach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45920"/>
            <a:ext cx="23774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Manual review of customer records and spreadsheets</a:t>
            </a:r>
            <a:endParaRPr lang="en-US" sz="15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Rule-based thresholds, e.g. flag short-tenure customers</a:t>
            </a:r>
            <a:endParaRPr lang="en-US" sz="15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Reactive: acts after the customer has left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46120" y="1188720"/>
            <a:ext cx="2651760" cy="3291840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46120" y="1188720"/>
            <a:ext cx="64008" cy="32918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29000" y="1280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Existing Technologies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1645920"/>
            <a:ext cx="23774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Spreadsheets / BI dashboards</a:t>
            </a:r>
            <a:endParaRPr lang="en-US" sz="15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Simple statistical reports</a:t>
            </a:r>
            <a:endParaRPr lang="en-US" sz="15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Single-model ML scripts without a user interface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035040" y="1188720"/>
            <a:ext cx="2651760" cy="3291840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1188720"/>
            <a:ext cx="64008" cy="329184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0" y="1280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Limitations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1645920"/>
            <a:ext cx="23774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Cannot capture complex feature interactions</a:t>
            </a:r>
            <a:endParaRPr lang="en-US" sz="15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No per-customer churn probability</a:t>
            </a:r>
            <a:endParaRPr lang="en-US" sz="15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Hard to scale; not usable by non-technical staff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Proposed System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ChurnX: an ML-based churn prediction system that trains Random Forest and XGBoost on historical customer data and serves predictions through a FastAPI backend and web interface.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920240"/>
            <a:ext cx="4023360" cy="1188720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920240"/>
            <a:ext cx="64008" cy="11887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0116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Predicts churn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37744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Both models return a Churn / Not Churn label plus churn probability %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920240"/>
            <a:ext cx="4023360" cy="1188720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920240"/>
            <a:ext cx="64008" cy="118872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20116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Compares models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237744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Side-by-side accuracy, precision, recall, F1, ROC-AUC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246120"/>
            <a:ext cx="4023360" cy="1188720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246120"/>
            <a:ext cx="64008" cy="11887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33375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Explains drivers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70332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Top-10 feature importance and EDA analytics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63440" y="3246120"/>
            <a:ext cx="4023360" cy="1188720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3246120"/>
            <a:ext cx="64008" cy="118872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46320" y="33375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Easy to use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846320" y="370332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Web pages: Analyze Customer, Insights, Comparison, Reports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System Architecture / Block Diagram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241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INPUT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2331720" y="10241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PROCESSING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617720" y="10241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MODELS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6949440" y="102412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OUTPUT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65760" y="132588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11480" y="13258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User enters 19 customer attributes (web form)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240280" y="132588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286000" y="13258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FastAPI  POST /predict (JSON validation)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297680" y="132588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343400" y="13258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preprocessor.pkl One-Hot Encoding (45 features)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263640" y="1325880"/>
            <a:ext cx="1234440" cy="365760"/>
          </a:xfrm>
          <a:prstGeom prst="roundRect">
            <a:avLst>
              <a:gd name="adj" fmla="val 2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309360" y="132588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Random Forest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63640" y="1783080"/>
            <a:ext cx="1234440" cy="365760"/>
          </a:xfrm>
          <a:prstGeom prst="roundRect">
            <a:avLst>
              <a:gd name="adj" fmla="val 20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309360" y="178308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XGBoost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7726680" y="1325880"/>
            <a:ext cx="1097280" cy="822960"/>
          </a:xfrm>
          <a:prstGeom prst="roundRect">
            <a:avLst>
              <a:gd name="adj" fmla="val 8889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772400" y="132588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Churn label + probability %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2011680" y="1737360"/>
            <a:ext cx="2286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4069080" y="1737360"/>
            <a:ext cx="2286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6035040" y="1508760"/>
            <a:ext cx="2286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6035040" y="1965960"/>
            <a:ext cx="2286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7498080" y="1737360"/>
            <a:ext cx="2286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365760" y="2423160"/>
            <a:ext cx="8458200" cy="2148840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02920" y="24871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</a:rPr>
              <a:t>Offline training pipeline (Jupyter notebook)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502920" y="2834640"/>
            <a:ext cx="1234440" cy="640080"/>
          </a:xfrm>
          <a:prstGeom prst="roundRect">
            <a:avLst>
              <a:gd name="adj" fmla="val 11429"/>
            </a:avLst>
          </a:prstGeom>
          <a:solidFill>
            <a:srgbClr val="0B1530"/>
          </a:solidFill>
          <a:ln w="12700">
            <a:solidFill>
              <a:srgbClr val="0B1530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48640" y="283464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customer_churn.csv (7,043 rows)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1737360" y="3154680"/>
            <a:ext cx="15544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1892808" y="2834640"/>
            <a:ext cx="1234440" cy="640080"/>
          </a:xfrm>
          <a:prstGeom prst="roundRect">
            <a:avLst>
              <a:gd name="adj" fmla="val 11429"/>
            </a:avLst>
          </a:prstGeom>
          <a:solidFill>
            <a:srgbClr val="0B1530"/>
          </a:solidFill>
          <a:ln w="12700">
            <a:solidFill>
              <a:srgbClr val="0B1530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1938528" y="283464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Clean + EDA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3127248" y="3154680"/>
            <a:ext cx="15544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3" name="Shape 30"/>
          <p:cNvSpPr/>
          <p:nvPr/>
        </p:nvSpPr>
        <p:spPr>
          <a:xfrm>
            <a:off x="3282696" y="2834640"/>
            <a:ext cx="1234440" cy="640080"/>
          </a:xfrm>
          <a:prstGeom prst="roundRect">
            <a:avLst>
              <a:gd name="adj" fmla="val 11429"/>
            </a:avLst>
          </a:prstGeom>
          <a:solidFill>
            <a:srgbClr val="0B1530"/>
          </a:solidFill>
          <a:ln w="12700">
            <a:solidFill>
              <a:srgbClr val="0B1530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3328416" y="283464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Train/test split 80/20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517136" y="3154680"/>
            <a:ext cx="15544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6" name="Shape 33"/>
          <p:cNvSpPr/>
          <p:nvPr/>
        </p:nvSpPr>
        <p:spPr>
          <a:xfrm>
            <a:off x="4672584" y="2834640"/>
            <a:ext cx="1234440" cy="640080"/>
          </a:xfrm>
          <a:prstGeom prst="roundRect">
            <a:avLst>
              <a:gd name="adj" fmla="val 11429"/>
            </a:avLst>
          </a:prstGeom>
          <a:solidFill>
            <a:srgbClr val="0B1530"/>
          </a:solidFill>
          <a:ln w="12700">
            <a:solidFill>
              <a:srgbClr val="0B1530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718304" y="283464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Fit RF + XGBoost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5907024" y="3154680"/>
            <a:ext cx="15544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9" name="Shape 36"/>
          <p:cNvSpPr/>
          <p:nvPr/>
        </p:nvSpPr>
        <p:spPr>
          <a:xfrm>
            <a:off x="6062472" y="2834640"/>
            <a:ext cx="1234440" cy="640080"/>
          </a:xfrm>
          <a:prstGeom prst="roundRect">
            <a:avLst>
              <a:gd name="adj" fmla="val 11429"/>
            </a:avLst>
          </a:prstGeom>
          <a:solidFill>
            <a:srgbClr val="0B1530"/>
          </a:solidFill>
          <a:ln w="12700">
            <a:solidFill>
              <a:srgbClr val="0B1530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108192" y="283464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Evaluate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7296912" y="3154680"/>
            <a:ext cx="15544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2" name="Shape 39"/>
          <p:cNvSpPr/>
          <p:nvPr/>
        </p:nvSpPr>
        <p:spPr>
          <a:xfrm>
            <a:off x="7452360" y="2834640"/>
            <a:ext cx="1234440" cy="640080"/>
          </a:xfrm>
          <a:prstGeom prst="roundRect">
            <a:avLst>
              <a:gd name="adj" fmla="val 11429"/>
            </a:avLst>
          </a:prstGeom>
          <a:solidFill>
            <a:srgbClr val="0B1530"/>
          </a:solidFill>
          <a:ln w="12700">
            <a:solidFill>
              <a:srgbClr val="0B1530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7498080" y="283464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Save .pkl models</a:t>
            </a:r>
            <a:endParaRPr lang="en-US" sz="1000" dirty="0"/>
          </a:p>
        </p:txBody>
      </p:sp>
      <p:sp>
        <p:nvSpPr>
          <p:cNvPr id="44" name="Text 41"/>
          <p:cNvSpPr txBox="1"/>
          <p:nvPr/>
        </p:nvSpPr>
        <p:spPr>
          <a:xfrm>
            <a:off x="502920" y="3703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Other API endpoints: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GET /analytics (churn by contract, payment, tenure, charges)  |  GET /feature-importance (top 10 features)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Frontend: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HTML/CSS/JS pages call these APIs with fetch() and render results with Chart.js.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Methodology / Workflow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737360" cy="73152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11887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Load dataset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194560" y="1554480"/>
            <a:ext cx="3657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560320" y="1188720"/>
            <a:ext cx="1737360" cy="73152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06040" y="11887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Clean data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97680" y="1554480"/>
            <a:ext cx="3657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663440" y="1188720"/>
            <a:ext cx="1737360" cy="73152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09160" y="11887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EDA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0" y="1554480"/>
            <a:ext cx="3657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766560" y="1188720"/>
            <a:ext cx="1737360" cy="73152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12280" y="11887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Encode + split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766560" y="2240280"/>
            <a:ext cx="1737360" cy="73152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12280" y="22402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Train RF &amp; XGBoost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 flipH="1">
            <a:off x="6400800" y="2606040"/>
            <a:ext cx="3657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663440" y="2240280"/>
            <a:ext cx="1737360" cy="73152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09160" y="22402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Evaluate &amp; compare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 flipH="1">
            <a:off x="4297680" y="2606040"/>
            <a:ext cx="3657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2560320" y="2240280"/>
            <a:ext cx="1737360" cy="73152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606040" y="22402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Save models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 flipH="1">
            <a:off x="2194560" y="2606040"/>
            <a:ext cx="3657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57200" y="2240280"/>
            <a:ext cx="1737360" cy="731520"/>
          </a:xfrm>
          <a:prstGeom prst="roundRect">
            <a:avLst>
              <a:gd name="adj" fmla="val 10000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02920" y="22402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Serve via API + UI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635240" y="1920240"/>
            <a:ext cx="0" cy="32004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457200" y="333756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Clean: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TotalCharges to numeric, 11 blank rows dropped, customerID removed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Encode + split: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One-Hot on 15 categorical columns; stratified 80/20 split (5,625 train / 1,407 test)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Evaluate: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Accuracy, Precision, Recall, F1, ROC-AUC on the held-out test set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Technology Stack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51760" cy="1600200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64008" cy="1600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80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Language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459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Python 3.11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HTML, CSS, JavaScript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46120" y="1188720"/>
            <a:ext cx="2651760" cy="1600200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46120" y="1188720"/>
            <a:ext cx="64008" cy="160020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29000" y="1280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Frameworks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16459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FastAPI + Uvicorn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Pydantic (input validation)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35040" y="1188720"/>
            <a:ext cx="2651760" cy="1600200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1188720"/>
            <a:ext cx="64008" cy="160020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0" y="1280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ML Libraries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164592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scikit-learn (Random Forest)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XGBoost, joblib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2651760" cy="1600200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926080"/>
            <a:ext cx="64008" cy="160020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017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Data &amp; Visuals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3832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Pandas, NumPy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Matplotlib, Seaborn, Chart.js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46120" y="2926080"/>
            <a:ext cx="2651760" cy="1600200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46120" y="2926080"/>
            <a:ext cx="64008" cy="160020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429000" y="3017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Storage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3429000" y="33832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CSV dataset (no database)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Models saved as .pkl files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035040" y="2926080"/>
            <a:ext cx="2651760" cy="1600200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35040" y="2926080"/>
            <a:ext cx="64008" cy="160020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17920" y="3017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Tools / Hardware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217920" y="33832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Jupyter Notebook, VS Code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Runs on a standard laptop; no GPU or cloud needed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System Modules / Components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4023360" cy="731520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43000"/>
            <a:ext cx="64008" cy="7315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User Interface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0020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49047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6 web pages: Home, Analyze, Insights, Comparison, Reports, Profile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143000"/>
            <a:ext cx="4023360" cy="731520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143000"/>
            <a:ext cx="64008" cy="7315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12344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Data Collection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160020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149047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Telco customer_churn.csv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1965960"/>
            <a:ext cx="4023360" cy="731520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1965960"/>
            <a:ext cx="64008" cy="73152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0574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Data Preprocessing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242316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231343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Cleaning, One-Hot Encoder (preprocessor.pkl)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1965960"/>
            <a:ext cx="4023360" cy="731520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1965960"/>
            <a:ext cx="64008" cy="73152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46320" y="20574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ML Module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846320" y="242316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846320" y="231343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Random Forest + XGBoost models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2788920"/>
            <a:ext cx="4023360" cy="731520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2788920"/>
            <a:ext cx="64008" cy="73152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" y="28803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Prediction Module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324612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313639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FastAPI /predict returns label + probability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63440" y="2788920"/>
            <a:ext cx="4023360" cy="731520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63440" y="2788920"/>
            <a:ext cx="64008" cy="73152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846320" y="28803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Visualization / Reporting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4846320" y="324612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4846320" y="313639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/analytics, /feature-importance, Chart.js charts, Reports page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3611880"/>
            <a:ext cx="4023360" cy="731520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" y="3611880"/>
            <a:ext cx="64008" cy="73152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40080" y="37033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Profile Settings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40690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640080" y="395935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Name, email, theme saved in browser localStorage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663440" y="3611880"/>
            <a:ext cx="4023360" cy="731520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63440" y="3611880"/>
            <a:ext cx="64008" cy="73152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846320" y="37033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Storage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4846320" y="40690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4846320" y="395935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CSV + .pkl files (no database or login yet)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Implementation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9319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Loaded 7,043 x 21 dataset with Pandas; no nulls, but 11 blank TotalCharges removed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Separated 19 features from the Churn target (No=0, Yes=1)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ColumnTransformer: One-Hot for 15 categorical columns, numeric columns passed through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Trained both models, saved with joblib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FastAPI loads the models and exposes /predict, /analytics, /feature-importance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3840480"/>
            <a:ext cx="3931920" cy="868680"/>
          </a:xfrm>
          <a:prstGeom prst="rect">
            <a:avLst/>
          </a:prstGeom>
          <a:solidFill>
            <a:srgbClr val="0B1530"/>
          </a:solidFill>
          <a:ln w="12700">
            <a:solidFill>
              <a:srgbClr val="0B153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388620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rf_model.predict_proba(X)[0][1]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xgb_model.predict_proba(X)[0][1]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 churn probability (%) per model</a:t>
            </a:r>
            <a:endParaRPr lang="en-US" sz="1000" dirty="0"/>
          </a:p>
        </p:txBody>
      </p:sp>
      <p:pic>
        <p:nvPicPr>
          <p:cNvPr id="6" name="Image 0" descr="EDA: churn by contract typ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29090" y="1097280"/>
            <a:ext cx="2200619" cy="1554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0" y="267919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EDA: churn by contract type</a:t>
            </a:r>
            <a:endParaRPr lang="en-US" sz="1000" dirty="0"/>
          </a:p>
        </p:txBody>
      </p:sp>
      <p:pic>
        <p:nvPicPr>
          <p:cNvPr id="8" name="Image 1" descr="EDA: churn by tenur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9780" y="3017520"/>
            <a:ext cx="2199239" cy="14630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572000" y="450799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EDA: churn by tenure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Dataset / Input Data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914400" cy="914400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</a:rPr>
              <a:t>7,043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459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records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463040" y="1143000"/>
            <a:ext cx="914400" cy="914400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463040" y="11887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</a:rPr>
              <a:t>21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16459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columns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68880" y="1143000"/>
            <a:ext cx="914400" cy="914400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468880" y="11887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26.6%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2468880" y="16459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churned (1,869)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474720" y="1143000"/>
            <a:ext cx="914400" cy="914400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74720" y="11887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</a:rPr>
              <a:t>45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16459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features after encoding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2240280"/>
            <a:ext cx="39319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Dataset: Telco Customer Churn (customer_churn.csv)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Customer: gender, SeniorCitizen, Partner, Dependents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Services: phone, internet, security, backup, tech support, streaming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Account: tenure, Contract, PaperlessBilling, PaymentMethod, MonthlyCharges, TotalCharges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Target: Churn (Yes/No)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Preprocessing: 11 rows dropped, ID removed, One-Hot, 80/20 stratified split</a:t>
            </a:r>
            <a:endParaRPr lang="en-US" sz="1100" dirty="0"/>
          </a:p>
        </p:txBody>
      </p:sp>
      <p:pic>
        <p:nvPicPr>
          <p:cNvPr id="16" name="Image 0" descr="Churn distribution: 5,163 retained vs 1,869 churn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413995"/>
            <a:ext cx="4114800" cy="293273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4572000" y="464515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Churn distribution: 5,163 retained vs 1,869 churned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Algorithm / Model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4023360" cy="2331720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43000"/>
            <a:ext cx="64008" cy="233172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Random Forest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00200"/>
            <a:ext cx="3749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Many decision trees on bootstrap samples; majority vote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n_estimators = 200, random_state = 42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Robust, handles non-linear patterns, gives feature importance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143000"/>
            <a:ext cx="4023360" cy="2331720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1143000"/>
            <a:ext cx="64008" cy="23317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12344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XGBoost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600200"/>
            <a:ext cx="3749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Trees built sequentially, each correcting previous errors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n_estimators 200, learning_rate 0.05, max_depth 4, subsample 0.8, colsample_bytree 0.8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Regularized; strong on tabular data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solidFill>
            <a:srgbClr val="0B1530"/>
          </a:solidFill>
          <a:ln w="12700">
            <a:solidFill>
              <a:srgbClr val="0B15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3657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Why these two? Both are ensemble tree methods that suit mixed numeric/categorical business data, need little scaling, and are easy to compare: bagging (Random Forest) versus boosting (XGBoost).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Results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51560"/>
          <a:ext cx="51206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pic>
        <p:nvPicPr>
          <p:cNvPr id="4" name="Image 0" descr="Top features (Random Forest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255876"/>
            <a:ext cx="3200400" cy="1511608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577840" y="29535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Top features (Random Forest)</a:t>
            </a:r>
            <a:endParaRPr lang="en-US" sz="1000" dirty="0"/>
          </a:p>
        </p:txBody>
      </p:sp>
      <p:sp>
        <p:nvSpPr>
          <p:cNvPr id="6" name="Text 2"/>
          <p:cNvSpPr txBox="1"/>
          <p:nvPr/>
        </p:nvSpPr>
        <p:spPr>
          <a:xfrm>
            <a:off x="5577840" y="324612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XGBoost wins on every metric; the biggest gain is recall (+4.3 pts) and ROC-AUC (+2.4 pts).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Top drivers: TotalCharges, tenure, MonthlyCharges, month-to-month contract.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Screenshots / Demo</a:t>
            </a:r>
            <a:endParaRPr lang="en-US" sz="2600" dirty="0"/>
          </a:p>
        </p:txBody>
      </p:sp>
      <p:pic>
        <p:nvPicPr>
          <p:cNvPr id="4" name="Image 0" descr="Home p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2709" y="1097280"/>
            <a:ext cx="2732342" cy="16002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272491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Home page</a:t>
            </a:r>
            <a:endParaRPr lang="en-US" sz="1000" dirty="0"/>
          </a:p>
        </p:txBody>
      </p:sp>
      <p:pic>
        <p:nvPicPr>
          <p:cNvPr id="6" name="Image 1" descr="Input screen: Analyze Custom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8949" y="1097280"/>
            <a:ext cx="2732342" cy="160020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4663440" y="272491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Input screen: Analyze Customer</a:t>
            </a:r>
            <a:endParaRPr lang="en-US" sz="1000" dirty="0"/>
          </a:p>
        </p:txBody>
      </p:sp>
      <p:pic>
        <p:nvPicPr>
          <p:cNvPr id="8" name="Image 2" descr="Processing / insights: Customer Insight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709" y="2926080"/>
            <a:ext cx="2732342" cy="1600200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457200" y="455371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Processing / insights: Customer Insights</a:t>
            </a:r>
            <a:endParaRPr lang="en-US" sz="1000" dirty="0"/>
          </a:p>
        </p:txBody>
      </p:sp>
      <p:pic>
        <p:nvPicPr>
          <p:cNvPr id="10" name="Image 3" descr="Output screen: model comparis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8949" y="2926080"/>
            <a:ext cx="2732342" cy="1600200"/>
          </a:xfrm>
          <a:prstGeom prst="rect">
            <a:avLst/>
          </a:prstGeom>
        </p:spPr>
      </p:pic>
      <p:sp>
        <p:nvSpPr>
          <p:cNvPr id="11" name="Text 4"/>
          <p:cNvSpPr txBox="1"/>
          <p:nvPr/>
        </p:nvSpPr>
        <p:spPr>
          <a:xfrm>
            <a:off x="4663440" y="455371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Output screen: model comparison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Advantages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3291840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64008" cy="329184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801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Benefits of ChurnX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45920"/>
            <a:ext cx="37490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Per-customer churn probability from two models at once</a:t>
            </a:r>
            <a:endParaRPr lang="en-US" sz="15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Finds high-risk customers before they leave</a:t>
            </a:r>
            <a:endParaRPr lang="en-US" sz="15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Insight pages show what drives churn</a:t>
            </a:r>
            <a:endParaRPr lang="en-US" sz="15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Simple web interface for non-technical users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4023360" cy="3291840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1188720"/>
            <a:ext cx="64008" cy="32918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12801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Improvement Over Existing Approach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645920"/>
            <a:ext cx="37490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Proactive instead of reactive</a:t>
            </a:r>
            <a:endParaRPr lang="en-US" sz="15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Learns non-linear interactions that manual rules miss</a:t>
            </a:r>
            <a:endParaRPr lang="en-US" sz="15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Reuses saved models for instant predictions</a:t>
            </a:r>
            <a:endParaRPr lang="en-US" sz="15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Transparent model comparison with five metrics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Applications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3291840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64008" cy="32918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801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Real-World Use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45920"/>
            <a:ext cx="37490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Flagging at-risk subscribers for retention offers</a:t>
            </a:r>
            <a:endParaRPr lang="en-US" sz="15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Targeting loyalty and discount campaigns</a:t>
            </a:r>
            <a:endParaRPr lang="en-US" sz="15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Prioritising customer-support follow-up</a:t>
            </a:r>
            <a:endParaRPr lang="en-US" sz="15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Planning contract upgrades (e.g. month-to-month to annual)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4023360" cy="3291840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1188720"/>
            <a:ext cx="64008" cy="3291840"/>
          </a:xfrm>
          <a:prstGeom prst="rect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12801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Target Users / Industries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645920"/>
            <a:ext cx="37490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Telecom and internet providers</a:t>
            </a:r>
            <a:endParaRPr lang="en-US" sz="15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Banks and insurance companies</a:t>
            </a:r>
            <a:endParaRPr lang="en-US" sz="15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OTT / subscription platforms</a:t>
            </a:r>
            <a:endParaRPr lang="en-US" sz="15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Retention, marketing and CRM analysts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Limitations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3291840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64008" cy="329184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801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Current Limitations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45920"/>
            <a:ext cx="37490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Recall is only 50-54%: many churners are missed</a:t>
            </a:r>
            <a:endParaRPr lang="en-US" sz="15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No hyperparameter tuning or class-imbalance handling yet</a:t>
            </a:r>
            <a:endParaRPr lang="en-US" sz="15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No login/authentication; no database</a:t>
            </a:r>
            <a:endParaRPr lang="en-US" sz="15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Predictions show correlation, not the cause of churn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4023360" cy="3291840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1188720"/>
            <a:ext cx="64008" cy="329184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12801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Dataset / Technical Constraints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645920"/>
            <a:ext cx="37490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Single Telco dataset of 7,032 customers</a:t>
            </a:r>
            <a:endParaRPr lang="en-US" sz="15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Static snapshot; behaviour changes over time</a:t>
            </a:r>
            <a:endParaRPr lang="en-US" sz="15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Models must be retrained manually</a:t>
            </a:r>
            <a:endParaRPr lang="en-US" sz="15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Random Forest file is about 38 MB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Future Scope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51760" cy="3291840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64008" cy="32918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80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Model Improvements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45920"/>
            <a:ext cx="23774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Hyperparameter tuning (GridSearch)</a:t>
            </a:r>
            <a:endParaRPr lang="en-US" sz="15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SMOTE / class weights to raise recall</a:t>
            </a:r>
            <a:endParaRPr lang="en-US" sz="15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SHAP explanations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46120" y="1188720"/>
            <a:ext cx="2651760" cy="3291840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46120" y="1188720"/>
            <a:ext cx="64008" cy="32918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29000" y="1280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New Features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1645920"/>
            <a:ext cx="23774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User login and role-based access</a:t>
            </a:r>
            <a:endParaRPr lang="en-US" sz="15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Database for stored predictions</a:t>
            </a:r>
            <a:endParaRPr lang="en-US" sz="15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Batch CSV upload; exportable reports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035040" y="1188720"/>
            <a:ext cx="2651760" cy="3291840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1188720"/>
            <a:ext cx="64008" cy="329184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0" y="1280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Deployment / Scaling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1645920"/>
            <a:ext cx="23774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Docker + cloud hosting</a:t>
            </a:r>
            <a:endParaRPr lang="en-US" sz="15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Scheduled model retraining</a:t>
            </a:r>
            <a:endParaRPr lang="en-US" sz="15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Integration with CRM tools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Conclusion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960120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64008" cy="9601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8016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Achieved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4592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End-to-end churn system: preprocessing, EDA, two trained models, FastAPI backend and ChurnX web app.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8229600" cy="960120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286000"/>
            <a:ext cx="64008" cy="96012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37744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Key outcome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74320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XGBoost performed better: 79.3% accuracy, 58.1% F1, 0.836 ROC-AUC vs 78.7%, 55.4%, 0.812 for Random Forest.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383280"/>
            <a:ext cx="8229600" cy="960120"/>
          </a:xfrm>
          <a:prstGeom prst="rect">
            <a:avLst/>
          </a:prstGeom>
          <a:solidFill>
            <a:schemeClr val="bg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383280"/>
            <a:ext cx="64008" cy="96012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47472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Contribution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84048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Shows how ML turns customer data into actionable retention insights usable by non-technical teams.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Thank you  |  Questions?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urnX">
  <a:themeElements>
    <a:clrScheme name="ChurnX">
      <a:dk1>
        <a:srgbClr val="1E293B"/>
      </a:dk1>
      <a:lt1>
        <a:srgbClr val="FFFFFF"/>
      </a:lt1>
      <a:dk2>
        <a:srgbClr val="0B1530"/>
      </a:dk2>
      <a:lt2>
        <a:srgbClr val="F1F5F9"/>
      </a:lt2>
      <a:accent1>
        <a:srgbClr val="2563EB"/>
      </a:accent1>
      <a:accent2>
        <a:srgbClr val="0891B2"/>
      </a:accent2>
      <a:accent3>
        <a:srgbClr val="F97316"/>
      </a:accent3>
      <a:accent4>
        <a:srgbClr val="16A34A"/>
      </a:accent4>
      <a:accent5>
        <a:srgbClr val="7C3AED"/>
      </a:accent5>
      <a:accent6>
        <a:srgbClr val="64748B"/>
      </a:accent6>
      <a:hlink>
        <a:srgbClr val="2563EB"/>
      </a:hlink>
      <a:folHlink>
        <a:srgbClr val="7C3AED"/>
      </a:folHlink>
    </a:clrScheme>
    <a:fontScheme name="ChurnX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Churn Prediction Using Random Forest and XGBoost</dc:title>
  <dc:subject>PptxGenJS Presentation</dc:subject>
  <dc:creator>PptxGenJS</dc:creator>
  <cp:lastModifiedBy>PptxGenJS</cp:lastModifiedBy>
  <cp:revision>1</cp:revision>
  <dcterms:created xsi:type="dcterms:W3CDTF">2026-10-13T15:36:29Z</dcterms:created>
  <dcterms:modified xsi:type="dcterms:W3CDTF">2026-10-13T15:36:29Z</dcterms:modified>
</cp:coreProperties>
</file>